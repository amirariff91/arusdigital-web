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08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2088" cy="54864"/>
          </a:xfrm>
          <a:prstGeom prst="rect">
            <a:avLst/>
          </a:prstGeom>
          <a:solidFill>
            <a:srgbClr val="E8C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562088" cy="14173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C54A"/>
                </a:solidFill>
                <a:latin typeface="Plus Jakarta Sans"/>
              </a:rPr>
              <a:t>ARUS DIGITAL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596128" y="164592"/>
            <a:ext cx="1463040" cy="274320"/>
          </a:xfrm>
          <a:prstGeom prst="rect">
            <a:avLst/>
          </a:prstGeom>
          <a:solidFill>
            <a:srgbClr val="E8C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96128" y="1737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80810"/>
                </a:solidFill>
                <a:latin typeface="Plus Jakarta Sans"/>
              </a:rPr>
              <a:t>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6556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4F2EC"/>
                </a:solidFill>
                <a:latin typeface="DM Serif Display"/>
              </a:rPr>
              <a:t>Miccy 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05840"/>
            <a:ext cx="55728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A598"/>
                </a:solidFill>
                <a:latin typeface="Plus Jakarta Sans"/>
              </a:rPr>
              <a:t>Enterprise-grade AI intelligence for group CEOs, GLCs and conglomerates overseeing multiple entities.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1572768"/>
            <a:ext cx="6053328" cy="0"/>
          </a:xfrm>
          <a:prstGeom prst="line">
            <a:avLst/>
          </a:prstGeom>
          <a:ln w="63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1664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8C54A"/>
                </a:solidFill>
                <a:latin typeface="DM Serif Display"/>
              </a:rPr>
              <a:t>RM 12,000+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03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A598"/>
                </a:solidFill>
                <a:latin typeface="Plus Jakarta Sans"/>
              </a:rPr>
              <a:t>per month  ·  RM 20,000–35,000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95728"/>
            <a:ext cx="6556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C54A"/>
                </a:solidFill>
                <a:latin typeface="Plus Jakarta Sans"/>
              </a:rPr>
              <a:t>WHAT YOU 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8833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88336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Everything in Miccy Executive, plus: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3580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35808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Multi-entity consolidation: single brief across all subsidiaries and divisions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83280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GLC-grade compliance: PDPA, data residency, audit trail, role-based access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3075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30752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On-premise LLM option: AI model runs on your servers — zero external data transfer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07822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78224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Custom KPI frameworks mapped to group-level and entity-level targets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2569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25696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Board reporting templates: auto-drafted summaries for governance committees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77316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73168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Unlimited monitoring workflows — configured to your group's operating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1206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20640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A598"/>
                </a:solidFill>
                <a:latin typeface="Plus Jakarta Sans"/>
              </a:rPr>
              <a:t>Dedicated implementation team + quarterly business reviews with Arus Digital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5559552"/>
            <a:ext cx="6053328" cy="0"/>
          </a:xfrm>
          <a:prstGeom prst="line">
            <a:avLst/>
          </a:prstGeom>
          <a:ln w="63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5724144"/>
            <a:ext cx="6556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C54A"/>
                </a:solidFill>
                <a:latin typeface="Plus Jakarta Sans"/>
              </a:rPr>
              <a:t>BUILT FOR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998464"/>
            <a:ext cx="65562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2EC"/>
                </a:solidFill>
                <a:latin typeface="Plus Jakarta Sans"/>
              </a:rPr>
              <a:t>Group CEOs, Group CFOs, and GLC leaders who need consolidated intelligence across entities — securely.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3737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37376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598"/>
                </a:solidFill>
                <a:latin typeface="Plus Jakarta Sans"/>
              </a:rPr>
              <a:t>Group CEOs overseeing 3–20 subsidiaries with fragmented data across entities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7665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766560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598"/>
                </a:solidFill>
                <a:latin typeface="Plus Jakarta Sans"/>
              </a:rPr>
              <a:t>GLCs and government-linked funds requiring PDPA-strict AI with on-premise 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709574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7095744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598"/>
                </a:solidFill>
                <a:latin typeface="Plus Jakarta Sans"/>
              </a:rPr>
              <a:t>Conglomerates where board-level visibility currently requires a team of analysts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7534656"/>
            <a:ext cx="6053328" cy="0"/>
          </a:xfrm>
          <a:prstGeom prst="line">
            <a:avLst/>
          </a:prstGeom>
          <a:ln w="63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7699248"/>
            <a:ext cx="6556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227"/>
                </a:solidFill>
                <a:latin typeface="Plus Jakarta Sans"/>
              </a:rPr>
              <a:t>DALAM BAHASA MALAYSIA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797356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7973568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598"/>
                </a:solidFill>
                <a:latin typeface="Plus Jakarta Sans"/>
              </a:rPr>
              <a:t>Miccy Command direka khas untuk syarikat korporat besar, GLC dan konglomerat Malaysia.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830275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8302752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598"/>
                </a:solidFill>
                <a:latin typeface="Plus Jakarta Sans"/>
              </a:rPr>
              <a:t>Satu laporan kecerdasan setiap pagi — merangkumi semua anak syarikat, dalam satu mesej WhatsApp.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863193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8631936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598"/>
                </a:solidFill>
                <a:latin typeface="Plus Jakarta Sans"/>
              </a:rPr>
              <a:t>Pematuhan PDPA sepenuhnya. Data tidak keluar dari infrastruktur anda. Pilihan LLM swasta tersedia.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89611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Plus Jakarta Sans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8961120"/>
            <a:ext cx="6327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A598"/>
                </a:solidFill>
                <a:latin typeface="Plus Jakarta Sans"/>
              </a:rPr>
              <a:t>Pasukan kami bekerja secara langsung dengan pasukan IT dan lembaga pengarah anda.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02920" y="9381744"/>
            <a:ext cx="6053328" cy="0"/>
          </a:xfrm>
          <a:prstGeom prst="line">
            <a:avLst/>
          </a:prstGeom>
          <a:ln w="63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02920" y="9546336"/>
            <a:ext cx="6556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E8C54A"/>
                </a:solidFill>
                <a:latin typeface="Plus Jakarta Sans"/>
              </a:rPr>
              <a:t>COMMON QUESTIONS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9820656"/>
            <a:ext cx="249137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4F2EC"/>
                </a:solidFill>
                <a:latin typeface="Plus Jakarta Sans"/>
              </a:rPr>
              <a:t>My data is sensitive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85734" y="9820656"/>
            <a:ext cx="39337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A598"/>
                </a:solidFill>
                <a:latin typeface="Plus Jakarta Sans"/>
              </a:rPr>
              <a:t>Private server. Zero external AI. PDPA compliant from day one.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10113264"/>
            <a:ext cx="249137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4F2EC"/>
                </a:solidFill>
                <a:latin typeface="Plus Jakarta Sans"/>
              </a:rPr>
              <a:t>We have dashboards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85734" y="10113264"/>
            <a:ext cx="39337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A598"/>
                </a:solidFill>
                <a:latin typeface="Plus Jakarta Sans"/>
              </a:rPr>
              <a:t>Dashboards show. Miccy synthesises. One brief beats ten dashboards.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10405872"/>
            <a:ext cx="249137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4F2EC"/>
                </a:solidFill>
                <a:latin typeface="Plus Jakarta Sans"/>
              </a:rPr>
              <a:t>48h setup sounds fast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85734" y="10405872"/>
            <a:ext cx="39337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A598"/>
                </a:solidFill>
                <a:latin typeface="Plus Jakarta Sans"/>
              </a:rPr>
              <a:t>No data migration. Connects to Xero, HubSpot, Shopify — what you already use.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9637776"/>
            <a:ext cx="7562088" cy="1051560"/>
          </a:xfrm>
          <a:prstGeom prst="rect">
            <a:avLst/>
          </a:prstGeom>
          <a:solidFill>
            <a:srgbClr val="E8C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9765792"/>
            <a:ext cx="426156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80810"/>
                </a:solidFill>
                <a:latin typeface="DM Serif Display"/>
              </a:rPr>
              <a:t>Enterprise AI. Malaysian-built.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101132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0810"/>
                </a:solidFill>
                <a:latin typeface="Plus Jakarta Sans"/>
              </a:rPr>
              <a:t>wa.me/60139844412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103235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80810"/>
                </a:solidFill>
                <a:latin typeface="Plus Jakarta Sans"/>
              </a:rPr>
              <a:t>hello@arusdigital.com  ·  arusdigital.com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47488" y="9930384"/>
            <a:ext cx="2011680" cy="457200"/>
          </a:xfrm>
          <a:prstGeom prst="rect">
            <a:avLst/>
          </a:prstGeom>
          <a:solidFill>
            <a:srgbClr val="08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47488" y="99761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4F2EC"/>
                </a:solidFill>
                <a:latin typeface="Plus Jakarta Sans"/>
              </a:rPr>
              <a:t>💬  WhatsApp Us Now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